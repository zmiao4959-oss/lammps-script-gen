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b7aaba844541f1" /><Relationship Type="http://schemas.openxmlformats.org/officeDocument/2006/relationships/extended-properties" Target="/docProps/app.xml" Id="Rd909d7acbd514ad1" /><Relationship Type="http://schemas.openxmlformats.org/officeDocument/2006/relationships/officeDocument" Target="/ppt/presentation.xml" Id="Rd250140c9845400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fd1df7171354f61"/>
  </p:sldMasterIdLst>
  <p:notesMasterIdLst>
    <p:notesMasterId xmlns:r="http://schemas.openxmlformats.org/officeDocument/2006/relationships" r:id="R17bb2bae6430417c"/>
  </p:notesMasterIdLst>
  <p:sldIdLst>
    <p:sldId xmlns:r="http://schemas.openxmlformats.org/officeDocument/2006/relationships" id="256" r:id="Ra9ca5f24d07b44cc"/>
    <p:sldId xmlns:r="http://schemas.openxmlformats.org/officeDocument/2006/relationships" id="257" r:id="Raaeeb66de8e14be9"/>
    <p:sldId xmlns:r="http://schemas.openxmlformats.org/officeDocument/2006/relationships" id="258" r:id="R0ff0d13a4e7d4912"/>
    <p:sldId xmlns:r="http://schemas.openxmlformats.org/officeDocument/2006/relationships" id="259" r:id="R303e9a29de1445d8"/>
    <p:sldId xmlns:r="http://schemas.openxmlformats.org/officeDocument/2006/relationships" id="260" r:id="R870cd473c3e64414"/>
    <p:sldId xmlns:r="http://schemas.openxmlformats.org/officeDocument/2006/relationships" id="261" r:id="Re1bb7cdb899f45f0"/>
    <p:sldId xmlns:r="http://schemas.openxmlformats.org/officeDocument/2006/relationships" id="262" r:id="R973b69cc255f42e6"/>
    <p:sldId xmlns:r="http://schemas.openxmlformats.org/officeDocument/2006/relationships" id="263" r:id="R16724123aed44821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9f9e8b79d674cea" /><Relationship Type="http://schemas.openxmlformats.org/officeDocument/2006/relationships/slideMaster" Target="/ppt/slideMasters/slideMaster1.xml" Id="R3fd1df7171354f61" /><Relationship Type="http://schemas.openxmlformats.org/officeDocument/2006/relationships/notesMaster" Target="/ppt/notesMasters/notesMaster1.xml" Id="R17bb2bae6430417c" /><Relationship Type="http://schemas.openxmlformats.org/officeDocument/2006/relationships/presProps" Target="/ppt/presProps.xml" Id="Rba0e83bd3bce4394" /><Relationship Type="http://schemas.openxmlformats.org/officeDocument/2006/relationships/tableStyles" Target="/ppt/tableStyles.xml" Id="R8b40e294872f4e25" /><Relationship Type="http://schemas.openxmlformats.org/officeDocument/2006/relationships/slide" Target="/ppt/slides/slide1.xml" Id="Ra9ca5f24d07b44cc" /><Relationship Type="http://schemas.openxmlformats.org/officeDocument/2006/relationships/slide" Target="/ppt/slides/slide2.xml" Id="Raaeeb66de8e14be9" /><Relationship Type="http://schemas.openxmlformats.org/officeDocument/2006/relationships/slide" Target="/ppt/slides/slide3.xml" Id="R0ff0d13a4e7d4912" /><Relationship Type="http://schemas.openxmlformats.org/officeDocument/2006/relationships/slide" Target="/ppt/slides/slide4.xml" Id="R303e9a29de1445d8" /><Relationship Type="http://schemas.openxmlformats.org/officeDocument/2006/relationships/slide" Target="/ppt/slides/slide5.xml" Id="R870cd473c3e64414" /><Relationship Type="http://schemas.openxmlformats.org/officeDocument/2006/relationships/slide" Target="/ppt/slides/slide6.xml" Id="Re1bb7cdb899f45f0" /><Relationship Type="http://schemas.openxmlformats.org/officeDocument/2006/relationships/slide" Target="/ppt/slides/slide7.xml" Id="R973b69cc255f42e6" /><Relationship Type="http://schemas.openxmlformats.org/officeDocument/2006/relationships/slide" Target="/ppt/slides/slide8.xml" Id="R16724123aed4482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b2b372dd0f429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b5665f39dd04f13" /><Relationship Type="http://schemas.openxmlformats.org/officeDocument/2006/relationships/notesMaster" Target="/ppt/notesMasters/notesMaster1.xml" Id="Rf1741a0f0f7546e2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74e466f247549ed" /><Relationship Type="http://schemas.openxmlformats.org/officeDocument/2006/relationships/notesMaster" Target="/ppt/notesMasters/notesMaster1.xml" Id="R8b8a7069c35c44c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354091bdb194d09" /><Relationship Type="http://schemas.openxmlformats.org/officeDocument/2006/relationships/notesMaster" Target="/ppt/notesMasters/notesMaster1.xml" Id="Rc372d0351f5f4cc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2c4aad457fe4933" /><Relationship Type="http://schemas.openxmlformats.org/officeDocument/2006/relationships/notesMaster" Target="/ppt/notesMasters/notesMaster1.xml" Id="Rf6a23568bd3c4b9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ab1dda3ef984bea" /><Relationship Type="http://schemas.openxmlformats.org/officeDocument/2006/relationships/notesMaster" Target="/ppt/notesMasters/notesMaster1.xml" Id="R0ed38ff45fb041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f410d5abdd44f3e" /><Relationship Type="http://schemas.openxmlformats.org/officeDocument/2006/relationships/notesMaster" Target="/ppt/notesMasters/notesMaster1.xml" Id="R53be67eac66f41b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5d0cbe50e64013" /><Relationship Type="http://schemas.openxmlformats.org/officeDocument/2006/relationships/notesMaster" Target="/ppt/notesMasters/notesMaster1.xml" Id="Ra117621cd3e043d2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3612e6b131a4490d" /><Relationship Type="http://schemas.openxmlformats.org/officeDocument/2006/relationships/notesMaster" Target="/ppt/notesMasters/notesMaster1.xml" Id="R7d1b0d80817146b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a612d7b2faf49e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de77beb916e4116" /><Relationship Type="http://schemas.openxmlformats.org/officeDocument/2006/relationships/slideLayout" Target="/ppt/slideLayouts/slideLayout1.xml" Id="R24288589c396498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4288589c396498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9c622602264357" /><Relationship Type="http://schemas.openxmlformats.org/officeDocument/2006/relationships/notesSlide" Target="/ppt/notesSlides/notesSlide1.xml" Id="R5697cc91ddd24b7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b50d042ff0e40df" /><Relationship Type="http://schemas.openxmlformats.org/officeDocument/2006/relationships/notesSlide" Target="/ppt/notesSlides/notesSlide2.xml" Id="R3ac94ef8bd114005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7a7e82a551480c" /><Relationship Type="http://schemas.openxmlformats.org/officeDocument/2006/relationships/notesSlide" Target="/ppt/notesSlides/notesSlide3.xml" Id="R008ef6f062424f9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436bc931ac45a9" /><Relationship Type="http://schemas.openxmlformats.org/officeDocument/2006/relationships/notesSlide" Target="/ppt/notesSlides/notesSlide4.xml" Id="R5cd0667cecbc4dc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1d005c64e84caf" /><Relationship Type="http://schemas.openxmlformats.org/officeDocument/2006/relationships/notesSlide" Target="/ppt/notesSlides/notesSlide5.xml" Id="R9c9ea01465ba47c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fd223c1c42a483c" /><Relationship Type="http://schemas.openxmlformats.org/officeDocument/2006/relationships/notesSlide" Target="/ppt/notesSlides/notesSlide6.xml" Id="R397b758debef4af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3e38bbb5e847be" /><Relationship Type="http://schemas.openxmlformats.org/officeDocument/2006/relationships/notesSlide" Target="/ppt/notesSlides/notesSlide7.xml" Id="R56343214229b454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15dd8920954702" /><Relationship Type="http://schemas.openxmlformats.org/officeDocument/2006/relationships/notesSlide" Target="/ppt/notesSlides/notesSlide8.xml" Id="R321c2d64df58413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19BDD2-3657-42AE-894D-527752892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209550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EAF1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E3A8A"/>
                </a:solidFill>
              </a:defRPr>
            </a:pPr>
            <a:r>
              <a:rPr sz="1200" b="1">
                <a:solidFill>
                  <a:srgbClr val="1E3A8A"/>
                </a:solidFill>
              </a:rPr>
              <a:t>Group Meeting Report</a:t>
            </a:r>
          </a:p>
        </p:txBody>
      </p:sp>
      <p:sp>
        <p:nvSpPr>
          <p:cNvPr id="2" name="cover-title">
            <a:extLst xmlns:a="http://schemas.openxmlformats.org/drawingml/2006/main">
              <a:ext uri="{FF2B5EF4-FFF2-40B4-BE49-F238E27FC236}">
                <a16:creationId xmlns:a16="http://schemas.microsoft.com/office/drawing/2014/main" id="{73C5F54A-8958-4320-BB12-D25FD144D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352550"/>
            <a:ext cx="6572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MDSynth：面向 LAMMPS 的</a:t>
            </a:r>
          </a:p>
          <a:p xmlns:a="http://schemas.openxmlformats.org/drawingml/2006/main">
            <a:pPr algn="l">
              <a:defRPr sz="3750" b="1">
                <a:solidFill>
                  <a:srgbClr val="172033"/>
                </a:solidFill>
              </a:defRPr>
            </a:pPr>
            <a:r>
              <a:rPr sz="3750" b="1">
                <a:solidFill>
                  <a:srgbClr val="172033"/>
                </a:solidFill>
              </a:rPr>
              <a:t>AI-native 分子动力学实验编译器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5426F8-9266-48D9-9F93-4907C8656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181350"/>
            <a:ext cx="7048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563EB"/>
                </a:solidFill>
              </a:defRPr>
            </a:pPr>
            <a:r>
              <a:rPr sz="1800" b="1">
                <a:solidFill>
                  <a:srgbClr val="2563EB"/>
                </a:solidFill>
              </a:rPr>
              <a:t>Natural Language → MD Typed IR → Validated LAMMPS Script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3DE366-29E6-4B4B-97FA-687F503A4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733800"/>
            <a:ext cx="590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2526B"/>
                </a:solidFill>
              </a:defRPr>
            </a:pPr>
            <a:r>
              <a:rPr sz="1650" b="0">
                <a:solidFill>
                  <a:srgbClr val="42526B"/>
                </a:solidFill>
              </a:rPr>
              <a:t>汇报重点：流程设计与每个模块的实现方法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897264-0D25-465C-9891-48C5D9593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3525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用户需求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Natural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83D1050-3B27-459D-BA46-613F4BAE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3525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意图抽取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Intent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28DE07-784A-4B3B-BD3B-F8E7E6674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13525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类型化 IR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MD Typed IR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AD31B9-D077-4274-ABD7-46B107B0F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6479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物理校验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Validation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C30447B-CCD4-4325-9562-108F51762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脚本编译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LAMMPS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6C7377-40BD-4BB2-8762-A58C53AE8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647950"/>
            <a:ext cx="12573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证据包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Evidence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51F6FD-8E5A-4023-8ECC-5FDB0DEE1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5240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869A"/>
                </a:solidFill>
              </a:defRPr>
            </a:pPr>
            <a:r>
              <a:rPr sz="2100" b="1">
                <a:solidFill>
                  <a:srgbClr val="7A869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AB2765-563F-471A-BEEB-75029F386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1524000"/>
            <a:ext cx="285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869A"/>
                </a:solidFill>
              </a:defRPr>
            </a:pPr>
            <a:r>
              <a:rPr sz="2100" b="1">
                <a:solidFill>
                  <a:srgbClr val="7A869A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70B107-6431-465C-9CBD-CFAD4A495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1336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869A"/>
                </a:solidFill>
              </a:defRPr>
            </a:pPr>
            <a:r>
              <a:rPr sz="2100" b="1">
                <a:solidFill>
                  <a:srgbClr val="7A869A"/>
                </a:solidFill>
              </a:rPr>
              <a:t>↓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01341A-E4C1-49A2-9E1C-5AF16280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0" y="30480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869A"/>
                </a:solidFill>
              </a:defRPr>
            </a:pPr>
            <a:r>
              <a:rPr sz="2100" b="1">
                <a:solidFill>
                  <a:srgbClr val="7A869A"/>
                </a:solidFill>
              </a:rPr>
              <a:t>←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3B0017E-73C0-4800-98EA-2EE63647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3048000"/>
            <a:ext cx="3238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7A869A"/>
                </a:solidFill>
              </a:defRPr>
            </a:pPr>
            <a:r>
              <a:rPr sz="2100" b="1">
                <a:solidFill>
                  <a:srgbClr val="7A869A"/>
                </a:solidFill>
              </a:rPr>
              <a:t>←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067134-F5E0-4479-98A8-4CF521F5F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810250"/>
            <a:ext cx="304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7A869A"/>
                </a:solidFill>
              </a:defRPr>
            </a:pPr>
            <a:r>
              <a:rPr sz="1350" b="0">
                <a:solidFill>
                  <a:srgbClr val="7A869A"/>
                </a:solidFill>
              </a:rPr>
              <a:t>汇报人 / 日期</a:t>
            </a:r>
          </a:p>
        </p:txBody>
      </p:sp>
    </p:spTree>
    <p:extLst>
      <p:ext uri="{BB962C8B-B14F-4D97-AF65-F5344CB8AC3E}">
        <p14:creationId xmlns:p14="http://schemas.microsoft.com/office/powerpoint/2010/main" val="1009115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2">
            <a:extLst xmlns:a="http://schemas.openxmlformats.org/drawingml/2006/main">
              <a:ext uri="{FF2B5EF4-FFF2-40B4-BE49-F238E27FC236}">
                <a16:creationId xmlns:a16="http://schemas.microsoft.com/office/drawing/2014/main" id="{1616A7E2-E0BB-4911-863D-C172CCAC7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背景问题与设计目标</a:t>
            </a:r>
          </a:p>
        </p:txBody>
      </p:sp>
      <p:sp>
        <p:nvSpPr>
          <p:cNvPr id="2" name="keyword-2">
            <a:extLst xmlns:a="http://schemas.openxmlformats.org/drawingml/2006/main">
              <a:ext uri="{FF2B5EF4-FFF2-40B4-BE49-F238E27FC236}">
                <a16:creationId xmlns:a16="http://schemas.microsoft.com/office/drawing/2014/main" id="{25D167A7-06EE-44EE-ACC6-ED3252990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Problem Setting &amp; Design Goals</a:t>
            </a:r>
          </a:p>
        </p:txBody>
      </p:sp>
      <p:sp>
        <p:nvSpPr>
          <p:cNvPr id="3" name="rule-2">
            <a:extLst xmlns:a="http://schemas.openxmlformats.org/drawingml/2006/main">
              <a:ext uri="{FF2B5EF4-FFF2-40B4-BE49-F238E27FC236}">
                <a16:creationId xmlns:a16="http://schemas.microsoft.com/office/drawing/2014/main" id="{72A9606B-F942-46FB-924E-B03708278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5B2FA3-2787-44EF-A02D-B0E0DCC29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DBBC7F5-CC33-4BC3-8A5D-9A1493BF4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504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DC2626"/>
                </a:solidFill>
              </a:defRPr>
            </a:pPr>
            <a:r>
              <a:rPr sz="1950" b="1">
                <a:solidFill>
                  <a:srgbClr val="DC2626"/>
                </a:solidFill>
              </a:rPr>
              <a:t>Manual Scripting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A23EB2-512B-41C3-BDDF-103D357C6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504950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059669"/>
                </a:solidFill>
              </a:defRPr>
            </a:pPr>
            <a:r>
              <a:rPr sz="1950" b="1">
                <a:solidFill>
                  <a:srgbClr val="059669"/>
                </a:solidFill>
              </a:rPr>
              <a:t>AI-assisted Compiler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1C9AE5-72D1-40B3-A4A7-F0E018AEC1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955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自然语言需求模糊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18F2F30-024B-4E7F-99CE-3A2BC8AD7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5050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输入中常缺少温度、时长、边界等参数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3FD1AA5-F9A3-4372-ACF1-BEBA0BBD5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LAMMPS 脚本易出错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503641A-94F1-4050-BD94-15DC12B38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5528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命令顺序、力场、单位和 ensemble 容易冲突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99AD7A-E95B-4AB9-B2C3-B075FF27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910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结果缺少可追溯性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E7E904-C013-49F8-874D-5BBD2997E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6005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假设、修复与验证过程不易复现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889302-0DFB-4FE1-8F4C-FB505A600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0955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E3B"/>
                </a:solidFill>
              </a:defRPr>
            </a:pPr>
            <a:r>
              <a:rPr sz="1650" b="1">
                <a:solidFill>
                  <a:srgbClr val="064E3B"/>
                </a:solidFill>
              </a:rPr>
              <a:t>Structured 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A48C48-0C13-4C2E-814E-B98AE39FA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050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把用户目标转换为可校验字段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8D52742-36D0-4A3C-8602-159EBC66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14325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E3B"/>
                </a:solidFill>
              </a:defRPr>
            </a:pPr>
            <a:r>
              <a:rPr sz="1650" b="1">
                <a:solidFill>
                  <a:srgbClr val="064E3B"/>
                </a:solidFill>
              </a:rPr>
              <a:t>Physics Validation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40005D-3A71-44BA-AEB3-14B4D0748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355282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在 IR 层发现物理和数值冲突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4E81A8-3315-4E47-83A5-9E63F6EDA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91000"/>
            <a:ext cx="3714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64E3B"/>
                </a:solidFill>
              </a:defRPr>
            </a:pPr>
            <a:r>
              <a:rPr sz="1650" b="1">
                <a:solidFill>
                  <a:srgbClr val="064E3B"/>
                </a:solidFill>
              </a:rPr>
              <a:t>Reproducible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CFFE60B-80E5-4B83-8A98-DBDA4F11D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600575"/>
            <a:ext cx="31813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输出脚本、报告、假设与溯源文件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5C1FD0-6EA0-4638-B35D-7446626D7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3009900"/>
            <a:ext cx="171450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核心转变</a:t>
            </a:r>
          </a:p>
          <a:p xmlns:a="http://schemas.openxmlformats.org/drawingml/2006/main"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from script writing</a:t>
            </a:r>
          </a:p>
          <a:p xmlns:a="http://schemas.openxmlformats.org/drawingml/2006/main">
            <a:pPr algn="ctr">
              <a:defRPr sz="1350" b="1">
                <a:solidFill>
                  <a:srgbClr val="1E3A8A"/>
                </a:solidFill>
              </a:defRPr>
            </a:pPr>
            <a:r>
              <a:rPr sz="1350" b="1">
                <a:solidFill>
                  <a:srgbClr val="1E3A8A"/>
                </a:solidFill>
              </a:rPr>
              <a:t>to experiment compiling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E6FA07C-88D5-475B-B7D4-87A7D969D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219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57BE138-0A61-4300-8255-EDF68828B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2194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F2A0F5-0A60-4BDA-8700-733DF3651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1603545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3">
            <a:extLst xmlns:a="http://schemas.openxmlformats.org/drawingml/2006/main">
              <a:ext uri="{FF2B5EF4-FFF2-40B4-BE49-F238E27FC236}">
                <a16:creationId xmlns:a16="http://schemas.microsoft.com/office/drawing/2014/main" id="{F135E242-7D70-4DEF-8728-DE4DADA86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总体流程架构</a:t>
            </a:r>
          </a:p>
        </p:txBody>
      </p:sp>
      <p:sp>
        <p:nvSpPr>
          <p:cNvPr id="2" name="keyword-3">
            <a:extLst xmlns:a="http://schemas.openxmlformats.org/drawingml/2006/main">
              <a:ext uri="{FF2B5EF4-FFF2-40B4-BE49-F238E27FC236}">
                <a16:creationId xmlns:a16="http://schemas.microsoft.com/office/drawing/2014/main" id="{7880998F-38B2-40C8-B01E-F6411C95D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End-to-end Pipeline</a:t>
            </a:r>
          </a:p>
        </p:txBody>
      </p:sp>
      <p:sp>
        <p:nvSpPr>
          <p:cNvPr id="3" name="rule-3">
            <a:extLst xmlns:a="http://schemas.openxmlformats.org/drawingml/2006/main">
              <a:ext uri="{FF2B5EF4-FFF2-40B4-BE49-F238E27FC236}">
                <a16:creationId xmlns:a16="http://schemas.microsoft.com/office/drawing/2014/main" id="{7BA7368A-5F3F-45BB-9C85-7E6178031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D97739-6575-4E88-879A-3C0B525CD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F4CEDF-CAD6-47BD-88B0-BE51D1D3A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1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意图抽取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Intent Extraction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FFEE0F8-0FF8-4AB0-825D-CB648EA58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D1151-0819-44FF-B1E2-D0D4B6A07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2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IR 规划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IR Planning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64E7B2F-57B7-41BA-897F-AB779B996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8140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44B5C0-85D0-4F46-B8AC-A852627B0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905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3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物理校验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Physics Validation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91975E7-CCC8-44F1-AF0C-600427725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1DDFEB-A09D-4129-A75D-33E94119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830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59E0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4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约束修复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Constrained Repair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7BF10B2-2E57-4E46-9828-EE0CCFC03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3539B0-C6F4-4182-951F-60F60B11D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5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脚本编译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LAMMPS Compilation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37A596A-D885-4544-BE46-D8325EF7A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589197D-2BEE-43FC-867D-694CB4A91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6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预运行检查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Sandbox Preflight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DE953A-8D70-4D54-B2EF-3E98E1F5D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505075"/>
            <a:ext cx="266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1A98F12-AB5E-4411-9383-5C79B514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190750"/>
            <a:ext cx="1352550" cy="1009650"/>
          </a:xfrm>
          <a:prstGeom xmlns:a="http://schemas.openxmlformats.org/drawingml/2006/main" prst="roundRect">
            <a:avLst>
              <a:gd name="adj" fmla="val 754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7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证据包生成</a:t>
            </a:r>
          </a:p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Evidence Package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EC2019-93DD-4147-AF52-D13D2EC8BF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99441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3A8A"/>
                </a:solidFill>
              </a:defRPr>
            </a:pPr>
            <a:r>
              <a:rPr sz="1800" b="1">
                <a:solidFill>
                  <a:srgbClr val="1E3A8A"/>
                </a:solidFill>
              </a:rPr>
              <a:t>设计原则：LLM 只负责理解意图，LAMMPS 命令由确定性规则和模板生成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81DCD0-66A0-4081-8059-E54621BD1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067300"/>
            <a:ext cx="8953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Pipeline.run() 串联七个阶段，并在 validate / repair 闭环后进入编译和证据包生成。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6BD470D-2ED1-42A0-8346-E4608E236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160100091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4">
            <a:extLst xmlns:a="http://schemas.openxmlformats.org/drawingml/2006/main">
              <a:ext uri="{FF2B5EF4-FFF2-40B4-BE49-F238E27FC236}">
                <a16:creationId xmlns:a16="http://schemas.microsoft.com/office/drawing/2014/main" id="{073D8D76-73D7-455C-9011-2F910F5AC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Step 1：意图抽取</a:t>
            </a:r>
          </a:p>
        </p:txBody>
      </p:sp>
      <p:sp>
        <p:nvSpPr>
          <p:cNvPr id="2" name="keyword-4">
            <a:extLst xmlns:a="http://schemas.openxmlformats.org/drawingml/2006/main">
              <a:ext uri="{FF2B5EF4-FFF2-40B4-BE49-F238E27FC236}">
                <a16:creationId xmlns:a16="http://schemas.microsoft.com/office/drawing/2014/main" id="{A0B94482-4A14-4FC1-AC75-62FDAC045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Intent Extraction</a:t>
            </a:r>
          </a:p>
        </p:txBody>
      </p:sp>
      <p:sp>
        <p:nvSpPr>
          <p:cNvPr id="3" name="rule-4">
            <a:extLst xmlns:a="http://schemas.openxmlformats.org/drawingml/2006/main">
              <a:ext uri="{FF2B5EF4-FFF2-40B4-BE49-F238E27FC236}">
                <a16:creationId xmlns:a16="http://schemas.microsoft.com/office/drawing/2014/main" id="{7638816A-772A-4863-B0AE-4EDC6F011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D722EE-0AF9-4263-BEDE-D5B4A4D4C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BBE4610-8CC6-4D85-A8B0-813A6BF68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809750"/>
            <a:ext cx="304800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输入示例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“计算铜在 300K 下的</a:t>
            </a:r>
          </a:p>
          <a:p xmlns:a="http://schemas.openxmlformats.org/drawingml/2006/main">
            <a:pPr algn="ctr">
              <a:defRPr sz="1725" b="1">
                <a:solidFill>
                  <a:srgbClr val="172033"/>
                </a:solidFill>
              </a:defRPr>
            </a:pPr>
            <a:r>
              <a:rPr sz="1725" b="1">
                <a:solidFill>
                  <a:srgbClr val="172033"/>
                </a:solidFill>
              </a:rPr>
              <a:t>NPT 平衡 200ps”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0AC5BFD-44E8-488B-AD90-9DF9D92A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23241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0483208-26CA-450E-9256-A90C2C637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85950"/>
            <a:ext cx="2428875" cy="1276350"/>
          </a:xfrm>
          <a:prstGeom xmlns:a="http://schemas.openxmlformats.org/drawingml/2006/main" prst="roundRect">
            <a:avLst>
              <a:gd name="adj" fmla="val 597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Semantic Parser</a:t>
            </a:r>
          </a:p>
          <a:p xmlns:a="http://schemas.openxmlformats.org/drawingml/2006/main">
            <a:pPr algn="ctr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LLM Backend</a:t>
            </a:r>
          </a:p>
          <a:p xmlns:a="http://schemas.openxmlformats.org/drawingml/2006/main">
            <a:pPr algn="ctr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+ schema prompt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256DE21-0177-405E-8BDE-EF7145F63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86625" y="2324100"/>
            <a:ext cx="4572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DCB4C6-B09C-40F6-8B54-D9876F9E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43050"/>
            <a:ext cx="3429000" cy="2362200"/>
          </a:xfrm>
          <a:prstGeom xmlns:a="http://schemas.openxmlformats.org/drawingml/2006/main" prst="roundRect">
            <a:avLst>
              <a:gd name="adj" fmla="val 32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BB74D9C-8CA8-4CF2-8B55-C8E74F27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33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ScientificIntentSpec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98D7C0-2922-429E-808B-A0979CD0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1717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task_type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95E11A1-EFDA-4E43-9AAB-91F5DF638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1717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equilibration_npt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92E6F-3C5B-46F3-BA1E-4442B78F5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4384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material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54992D-DF05-40A8-AC36-78FC967D9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4384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Cu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77BE5F-F2C8-441E-9CB7-EBFFCFD1AD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7051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temperature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51CC4-6D5C-4A10-AA8F-950C895AC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7051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300 K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E42E98F-77A7-488F-9D13-C8BA62FC5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9718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pressure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AC7563-FEBE-403F-BCA5-7FE1E4A2E8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29718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0 bar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31D2EFB-1751-4E39-89D0-879137031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2385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duration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D4F888A-228E-4C82-9185-21FD8B70A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2385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200 ps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12D7A7-A4BA-44C4-AF2E-2C79ADFA7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505200"/>
            <a:ext cx="1238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563EB"/>
                </a:solidFill>
              </a:defRPr>
            </a:pPr>
            <a:r>
              <a:rPr sz="1200" b="1">
                <a:solidFill>
                  <a:srgbClr val="2563EB"/>
                </a:solidFill>
              </a:rPr>
              <a:t>confidence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7B815A8-AFF4-414E-B1C4-A0382ED660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05200"/>
            <a:ext cx="1333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42526B"/>
                </a:solidFill>
              </a:defRPr>
            </a:pPr>
            <a:r>
              <a:rPr sz="1200" b="0">
                <a:solidFill>
                  <a:srgbClr val="42526B"/>
                </a:solidFill>
              </a:rPr>
              <a:t>high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24ADD0-F26A-479E-9B2E-263FDDCAA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900" y="4381500"/>
            <a:ext cx="933450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2526B"/>
                </a:solidFill>
              </a:defRPr>
            </a:pPr>
            <a:r>
              <a:rPr sz="1650" b="0">
                <a:solidFill>
                  <a:srgbClr val="42526B"/>
                </a:solidFill>
              </a:rPr>
              <a:t>• schema validation</a:t>
            </a:r>
          </a:p>
          <a:p xmlns:a="http://schemas.openxmlformats.org/drawingml/2006/main">
            <a:pPr algn="l">
              <a:defRPr sz="1650" b="0">
                <a:solidFill>
                  <a:srgbClr val="42526B"/>
                </a:solidFill>
              </a:defRPr>
            </a:pPr>
            <a:r>
              <a:rPr sz="1650" b="0">
                <a:solidFill>
                  <a:srgbClr val="42526B"/>
                </a:solidFill>
              </a:rPr>
              <a:t>• missing field classification</a:t>
            </a:r>
          </a:p>
          <a:p xmlns:a="http://schemas.openxmlformats.org/drawingml/2006/main">
            <a:pPr algn="l">
              <a:defRPr sz="1650" b="0">
                <a:solidFill>
                  <a:srgbClr val="42526B"/>
                </a:solidFill>
              </a:defRPr>
            </a:pPr>
            <a:r>
              <a:rPr sz="1650" b="0">
                <a:solidFill>
                  <a:srgbClr val="42526B"/>
                </a:solidFill>
              </a:rPr>
              <a:t>• risk flag detection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510979-DFA8-47CD-B2FC-642406558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15897030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5">
            <a:extLst xmlns:a="http://schemas.openxmlformats.org/drawingml/2006/main">
              <a:ext uri="{FF2B5EF4-FFF2-40B4-BE49-F238E27FC236}">
                <a16:creationId xmlns:a16="http://schemas.microsoft.com/office/drawing/2014/main" id="{391F92EC-2094-46CC-AF33-A235C5AA8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Step 2：MD Typed IR 规划</a:t>
            </a:r>
          </a:p>
        </p:txBody>
      </p:sp>
      <p:sp>
        <p:nvSpPr>
          <p:cNvPr id="2" name="keyword-5">
            <a:extLst xmlns:a="http://schemas.openxmlformats.org/drawingml/2006/main">
              <a:ext uri="{FF2B5EF4-FFF2-40B4-BE49-F238E27FC236}">
                <a16:creationId xmlns:a16="http://schemas.microsoft.com/office/drawing/2014/main" id="{B8E27497-94DB-4237-86F7-0598E106C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Typed Intermediate Representation</a:t>
            </a:r>
          </a:p>
        </p:txBody>
      </p:sp>
      <p:sp>
        <p:nvSpPr>
          <p:cNvPr id="3" name="rule-5">
            <a:extLst xmlns:a="http://schemas.openxmlformats.org/drawingml/2006/main">
              <a:ext uri="{FF2B5EF4-FFF2-40B4-BE49-F238E27FC236}">
                <a16:creationId xmlns:a16="http://schemas.microsoft.com/office/drawing/2014/main" id="{B79297D9-DC0A-4A56-826D-2C311181F0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10C02B-28DB-4BA5-B0C2-FAE9108DD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5931542-4705-4D4B-9B7D-2FD39E48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0750"/>
            <a:ext cx="2000250" cy="1066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Scientific</a:t>
            </a:r>
          </a:p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IntentSpec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1EB178D-524E-4BE2-A36D-5558C1E7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5336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4386D9-0C56-4BC1-A925-429B4D8B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114550"/>
            <a:ext cx="21907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E3A8A"/>
                </a:solidFill>
              </a:defRPr>
            </a:pPr>
            <a:r>
              <a:rPr sz="1725" b="1">
                <a:solidFill>
                  <a:srgbClr val="1E3A8A"/>
                </a:solidFill>
              </a:rPr>
              <a:t>Rule-based</a:t>
            </a:r>
          </a:p>
          <a:p xmlns:a="http://schemas.openxmlformats.org/drawingml/2006/main">
            <a:pPr algn="ctr">
              <a:defRPr sz="1725" b="1">
                <a:solidFill>
                  <a:srgbClr val="1E3A8A"/>
                </a:solidFill>
              </a:defRPr>
            </a:pPr>
            <a:r>
              <a:rPr sz="1725" b="1">
                <a:solidFill>
                  <a:srgbClr val="1E3A8A"/>
                </a:solidFill>
              </a:rPr>
              <a:t>Planner</a:t>
            </a:r>
          </a:p>
          <a:p xmlns:a="http://schemas.openxmlformats.org/drawingml/2006/main">
            <a:pPr algn="ctr">
              <a:defRPr sz="1725" b="1">
                <a:solidFill>
                  <a:srgbClr val="1E3A8A"/>
                </a:solidFill>
              </a:defRPr>
            </a:pPr>
            <a:r>
              <a:rPr sz="1725" b="1">
                <a:solidFill>
                  <a:srgbClr val="1E3A8A"/>
                </a:solidFill>
              </a:rPr>
              <a:t>+ domain defaults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384148-6A88-4CBC-9C22-E9165938AE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2533650"/>
            <a:ext cx="4191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3EF32F-C6FC-43A0-8C05-733D9D46D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1657350"/>
            <a:ext cx="438150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62164D-1602-4859-8A4A-C03CBC844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66900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172033"/>
                </a:solidFill>
              </a:defRPr>
            </a:pPr>
            <a:r>
              <a:rPr sz="2025" b="1">
                <a:solidFill>
                  <a:srgbClr val="172033"/>
                </a:solidFill>
              </a:rPr>
              <a:t>MDTypedIR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604ECB-1268-4A7F-A163-E38C56CF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3812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SystemIR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B87B2C-4C4A-442F-8FAD-CA8368455D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23812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ForceFieldIR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0F94027-FC40-42FC-9B1E-292916F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3812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CellIR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3E3CD83-0CA7-4DB6-B99B-0FCEC7F43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1051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72033"/>
                </a:solidFill>
              </a:defRPr>
            </a:pPr>
            <a:r>
              <a:rPr sz="975" b="1">
                <a:solidFill>
                  <a:srgbClr val="172033"/>
                </a:solidFill>
              </a:rPr>
              <a:t>ProtocolStage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CAFFD1-D305-45FA-93B5-AB9D5F1A8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1051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OutputSpec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DE68625-A7A8-4457-9659-6D745B32E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05150"/>
            <a:ext cx="1066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72033"/>
                </a:solidFill>
              </a:defRPr>
            </a:pPr>
            <a:r>
              <a:rPr sz="1125" b="1">
                <a:solidFill>
                  <a:srgbClr val="172033"/>
                </a:solidFill>
              </a:rPr>
              <a:t>AnalysisStep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EE3828F-A8FB-49C9-AE0B-29283EBB03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" y="4629150"/>
            <a:ext cx="939165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E7F7EF"/>
          </a:solidFill>
          <a:ln xmlns:a="http://schemas.openxmlformats.org/drawingml/2006/main" w="9525">
            <a:solidFill>
              <a:srgbClr val="A7F3D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64E3B"/>
                </a:solidFill>
              </a:defRPr>
            </a:pPr>
            <a:r>
              <a:rPr sz="1725" b="1">
                <a:solidFill>
                  <a:srgbClr val="064E3B"/>
                </a:solidFill>
              </a:rPr>
              <a:t>示例：material = Cu  |  lattice = fcc  |  force field = EAM  |  stage = NPT equilibration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27253F7-4D88-45D1-B225-AA25E898C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200622931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6">
            <a:extLst xmlns:a="http://schemas.openxmlformats.org/drawingml/2006/main">
              <a:ext uri="{FF2B5EF4-FFF2-40B4-BE49-F238E27FC236}">
                <a16:creationId xmlns:a16="http://schemas.microsoft.com/office/drawing/2014/main" id="{5C573940-82DB-4DCA-AD54-A23F8875F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Step 3-4：物理校验与约束修复</a:t>
            </a:r>
          </a:p>
        </p:txBody>
      </p:sp>
      <p:sp>
        <p:nvSpPr>
          <p:cNvPr id="2" name="keyword-6">
            <a:extLst xmlns:a="http://schemas.openxmlformats.org/drawingml/2006/main">
              <a:ext uri="{FF2B5EF4-FFF2-40B4-BE49-F238E27FC236}">
                <a16:creationId xmlns:a16="http://schemas.microsoft.com/office/drawing/2014/main" id="{34B89A2A-F7AF-46AC-887D-126E78B7B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Physics Validation &amp; Constrained Repair</a:t>
            </a:r>
          </a:p>
        </p:txBody>
      </p:sp>
      <p:sp>
        <p:nvSpPr>
          <p:cNvPr id="3" name="rule-6">
            <a:extLst xmlns:a="http://schemas.openxmlformats.org/drawingml/2006/main">
              <a:ext uri="{FF2B5EF4-FFF2-40B4-BE49-F238E27FC236}">
                <a16:creationId xmlns:a16="http://schemas.microsoft.com/office/drawing/2014/main" id="{ABF0897F-323A-4F1E-B797-DD0B024E4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F4D8585-BD66-4A02-9CC2-7D39FCA60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58D0BA-F360-4857-AB24-B495DE40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657350"/>
            <a:ext cx="4857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368FA0-7CFF-4315-91AA-5A37142C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Physics Validation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52E222-D5E2-4B82-9A94-3E3947BEE7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324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B"/>
                </a:solidFill>
              </a:defRPr>
            </a:pPr>
            <a:r>
              <a:rPr sz="1350" b="0">
                <a:solidFill>
                  <a:srgbClr val="42526B"/>
                </a:solidFill>
              </a:rPr>
              <a:t>规则引擎扫描 MDTypedIR，输出 Diagnostic 列表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D21D77-09B5-4612-9CFE-D96B69DF8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completeness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05E019-9DA1-4B20-BAE9-86975A9F3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575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force 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A834A-BABC-48E5-9144-A74EFE691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0995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boundary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EE0943-E710-4CB5-AD5E-0371892EA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40995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ensemble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AC22B4-49A3-4B9E-9F5D-DAE18626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9624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numerics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123BC-677B-41CF-92B1-84DE09B4C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962400"/>
            <a:ext cx="16954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F1F5F9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172033"/>
                </a:solidFill>
              </a:defRPr>
            </a:pPr>
            <a:r>
              <a:rPr sz="1275" b="1">
                <a:solidFill>
                  <a:srgbClr val="172033"/>
                </a:solidFill>
              </a:rPr>
              <a:t>observables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F39DA-55CD-43BC-A2B9-F91CF3246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00550"/>
            <a:ext cx="5143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DC2626"/>
                </a:solidFill>
              </a:defRPr>
            </a:pPr>
            <a:r>
              <a:rPr sz="1050" b="1">
                <a:solidFill>
                  <a:srgbClr val="DC2626"/>
                </a:solidFill>
              </a:rPr>
              <a:t>error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C574350-30CD-49BD-B07A-324B1D979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81450" y="4400550"/>
            <a:ext cx="68580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92400E"/>
                </a:solidFill>
              </a:defRPr>
            </a:pPr>
            <a:r>
              <a:rPr sz="1050" b="1">
                <a:solidFill>
                  <a:srgbClr val="92400E"/>
                </a:solidFill>
              </a:rPr>
              <a:t>warning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0777A0-504D-4061-9ADD-7A5CC501B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1657350"/>
            <a:ext cx="4857750" cy="3238500"/>
          </a:xfrm>
          <a:prstGeom xmlns:a="http://schemas.openxmlformats.org/drawingml/2006/main" prst="roundRect">
            <a:avLst>
              <a:gd name="adj" fmla="val 235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EB71DC-6AFD-43AA-BBAC-35049725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19240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59E0B"/>
                </a:solidFill>
              </a:defRPr>
            </a:pPr>
            <a:r>
              <a:rPr sz="2100" b="1">
                <a:solidFill>
                  <a:srgbClr val="F59E0B"/>
                </a:solidFill>
              </a:rPr>
              <a:t>Constrained Repair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013DC3D-5A3F-42DD-8FE9-006C1F008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24100"/>
            <a:ext cx="3905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42526B"/>
                </a:solidFill>
              </a:defRPr>
            </a:pPr>
            <a:r>
              <a:rPr sz="1350" b="0">
                <a:solidFill>
                  <a:srgbClr val="42526B"/>
                </a:solidFill>
              </a:rPr>
              <a:t>Diagnostic → RepairAction → 回写 MDTypedIR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D5B75CA-E714-41DB-998F-C2316FE53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000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FCA5A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DC2626"/>
                </a:solidFill>
              </a:defRPr>
            </a:pPr>
            <a:r>
              <a:rPr sz="1500" b="1">
                <a:solidFill>
                  <a:srgbClr val="DC2626"/>
                </a:solidFill>
              </a:rPr>
              <a:t>Diagnostic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653727-C2E6-450E-A64A-81022C5A2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05150"/>
            <a:ext cx="4000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4A7D33-91EB-4C77-A79B-11B0E18A0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000375"/>
            <a:ext cx="1428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2400E"/>
                </a:solidFill>
              </a:defRPr>
            </a:pPr>
            <a:r>
              <a:rPr sz="1500" b="1">
                <a:solidFill>
                  <a:srgbClr val="92400E"/>
                </a:solidFill>
              </a:rPr>
              <a:t>RepairAction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90B293-9E78-48D7-84BB-7EA74CA0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3981450"/>
            <a:ext cx="304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E3A8A"/>
                </a:solidFill>
              </a:defRPr>
            </a:pPr>
            <a:r>
              <a:rPr sz="1650" b="1">
                <a:solidFill>
                  <a:srgbClr val="1E3A8A"/>
                </a:solidFill>
              </a:rPr>
              <a:t>↺ validate → repair → revalidate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1704DC-4B98-4A34-92B5-B60084C4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50" y="5381625"/>
            <a:ext cx="7505700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E3A8A"/>
                </a:solidFill>
              </a:defRPr>
            </a:pPr>
            <a:r>
              <a:rPr sz="1800" b="1">
                <a:solidFill>
                  <a:srgbClr val="1E3A8A"/>
                </a:solidFill>
              </a:rPr>
              <a:t>关键原则：修复 IR，而不是直接修改 LAMMPS 脚本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9242B-33CF-4EE1-A278-36667A047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8825445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7">
            <a:extLst xmlns:a="http://schemas.openxmlformats.org/drawingml/2006/main">
              <a:ext uri="{FF2B5EF4-FFF2-40B4-BE49-F238E27FC236}">
                <a16:creationId xmlns:a16="http://schemas.microsoft.com/office/drawing/2014/main" id="{FCE71C65-D003-4A40-99FF-058ED2FB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Step 5-6：LAMMPS 编译与预检查</a:t>
            </a:r>
          </a:p>
        </p:txBody>
      </p:sp>
      <p:sp>
        <p:nvSpPr>
          <p:cNvPr id="2" name="keyword-7">
            <a:extLst xmlns:a="http://schemas.openxmlformats.org/drawingml/2006/main">
              <a:ext uri="{FF2B5EF4-FFF2-40B4-BE49-F238E27FC236}">
                <a16:creationId xmlns:a16="http://schemas.microsoft.com/office/drawing/2014/main" id="{32FF0FB9-940C-490D-9C80-B3EE384F4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LAMMPS Compilation &amp; Sandbox Preflight</a:t>
            </a:r>
          </a:p>
        </p:txBody>
      </p:sp>
      <p:sp>
        <p:nvSpPr>
          <p:cNvPr id="3" name="rule-7">
            <a:extLst xmlns:a="http://schemas.openxmlformats.org/drawingml/2006/main">
              <a:ext uri="{FF2B5EF4-FFF2-40B4-BE49-F238E27FC236}">
                <a16:creationId xmlns:a16="http://schemas.microsoft.com/office/drawing/2014/main" id="{3220C749-CE40-466F-975F-80674A65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AA2C56-F729-44F7-82FD-EF4DBE29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5ABC57-4614-45A2-A247-0A408C35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62100"/>
            <a:ext cx="1524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72033"/>
                </a:solidFill>
              </a:defRPr>
            </a:pPr>
            <a:r>
              <a:rPr sz="1650" b="1">
                <a:solidFill>
                  <a:srgbClr val="172033"/>
                </a:solidFill>
              </a:rPr>
              <a:t>MDTypedIR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86F5888-3A26-4371-B203-983CCDE6A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1695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1B7A442-80BA-4DB1-81F1-7488861B71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5621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</a:defRPr>
            </a:pPr>
            <a:r>
              <a:rPr sz="1125" b="1">
                <a:solidFill>
                  <a:srgbClr val="1E3A8A"/>
                </a:solidFill>
              </a:rPr>
              <a:t>emit_header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6A6AF7-A780-4B17-BF4C-BD785FD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0050" y="15621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</a:defRPr>
            </a:pPr>
            <a:r>
              <a:rPr sz="1125" b="1">
                <a:solidFill>
                  <a:srgbClr val="1E3A8A"/>
                </a:solidFill>
              </a:rPr>
              <a:t>emit_system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293CCC-4572-4871-8E2C-26F40FAB1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700" y="15621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</a:defRPr>
            </a:pPr>
            <a:r>
              <a:rPr sz="1125" b="1">
                <a:solidFill>
                  <a:srgbClr val="1E3A8A"/>
                </a:solidFill>
              </a:rPr>
              <a:t>emit_forcefield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ADBC5B-D6A1-463F-9CFF-86852AFA0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5621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</a:defRPr>
            </a:pPr>
            <a:r>
              <a:rPr sz="1125" b="1">
                <a:solidFill>
                  <a:srgbClr val="1E3A8A"/>
                </a:solidFill>
              </a:rPr>
              <a:t>emit_protocol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DA7FB8-7151-4051-A027-E5DB7CC06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62100"/>
            <a:ext cx="120015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E3A8A"/>
                </a:solidFill>
              </a:defRPr>
            </a:pPr>
            <a:r>
              <a:rPr sz="1125" b="1">
                <a:solidFill>
                  <a:srgbClr val="1E3A8A"/>
                </a:solidFill>
              </a:rPr>
              <a:t>emit_output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49D2CA2-C9D4-44BD-B3B6-C87973DF5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1695450"/>
            <a:ext cx="3429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→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2F2A395-73A9-4AAA-BD81-62EFCFFE3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562100"/>
            <a:ext cx="1143000" cy="609600"/>
          </a:xfrm>
          <a:prstGeom xmlns:a="http://schemas.openxmlformats.org/drawingml/2006/main" prst="roundRect">
            <a:avLst>
              <a:gd name="adj" fmla="val 125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ordered</a:t>
            </a:r>
          </a:p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commands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9F38060-E97D-4F1E-B84D-92308B92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57500"/>
            <a:ext cx="4286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LAMMPS script preview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units metal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atom_style atomic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pair_style eam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pair_coeff * * Cu_u3.eam Cu</a:t>
            </a:r>
          </a:p>
          <a:p xmlns:a="http://schemas.openxmlformats.org/drawingml/2006/main">
            <a:pPr algn="l">
              <a:defRPr sz="1500" b="0">
                <a:solidFill>
                  <a:srgbClr val="172033"/>
                </a:solidFill>
              </a:defRPr>
            </a:pPr>
            <a:r>
              <a:rPr sz="1500" b="0">
                <a:solidFill>
                  <a:srgbClr val="172033"/>
                </a:solidFill>
              </a:rPr>
              <a:t>run 200000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97FB36-97AB-4CBC-B5AB-C09BEEAB6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150" y="2857500"/>
            <a:ext cx="457200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A0E29D3-F1A4-453F-983C-167571644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3105150"/>
            <a:ext cx="342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563EB"/>
                </a:solidFill>
              </a:defRPr>
            </a:pPr>
            <a:r>
              <a:rPr sz="2100" b="1">
                <a:solidFill>
                  <a:srgbClr val="2563EB"/>
                </a:solidFill>
              </a:rPr>
              <a:t>Sandbox Preflight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0175FA-B231-45EB-AECD-1F856BC46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619500"/>
            <a:ext cx="28575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42526B"/>
                </a:solidFill>
              </a:defRPr>
            </a:pPr>
            <a:r>
              <a:rPr sz="1575" b="0">
                <a:solidFill>
                  <a:srgbClr val="42526B"/>
                </a:solidFill>
              </a:rPr>
              <a:t>• script compiles</a:t>
            </a:r>
          </a:p>
          <a:p xmlns:a="http://schemas.openxmlformats.org/drawingml/2006/main">
            <a:pPr algn="l">
              <a:defRPr sz="1575" b="0">
                <a:solidFill>
                  <a:srgbClr val="42526B"/>
                </a:solidFill>
              </a:defRPr>
            </a:pPr>
            <a:r>
              <a:rPr sz="1575" b="0">
                <a:solidFill>
                  <a:srgbClr val="42526B"/>
                </a:solidFill>
              </a:rPr>
              <a:t>• finite values</a:t>
            </a:r>
          </a:p>
          <a:p xmlns:a="http://schemas.openxmlformats.org/drawingml/2006/main">
            <a:pPr algn="l">
              <a:defRPr sz="1575" b="0">
                <a:solidFill>
                  <a:srgbClr val="42526B"/>
                </a:solidFill>
              </a:defRPr>
            </a:pPr>
            <a:r>
              <a:rPr sz="1575" b="0">
                <a:solidFill>
                  <a:srgbClr val="42526B"/>
                </a:solidFill>
              </a:rPr>
              <a:t>• temperature stability</a:t>
            </a:r>
          </a:p>
          <a:p xmlns:a="http://schemas.openxmlformats.org/drawingml/2006/main">
            <a:pPr algn="l">
              <a:defRPr sz="1575" b="0">
                <a:solidFill>
                  <a:srgbClr val="42526B"/>
                </a:solidFill>
              </a:defRPr>
            </a:pPr>
            <a:r>
              <a:rPr sz="1575" b="0">
                <a:solidFill>
                  <a:srgbClr val="42526B"/>
                </a:solidFill>
              </a:rPr>
              <a:t>• energy drift</a:t>
            </a:r>
          </a:p>
          <a:p xmlns:a="http://schemas.openxmlformats.org/drawingml/2006/main">
            <a:pPr algn="l">
              <a:defRPr sz="1575" b="0">
                <a:solidFill>
                  <a:srgbClr val="42526B"/>
                </a:solidFill>
              </a:defRPr>
            </a:pPr>
            <a:r>
              <a:rPr sz="1575" b="0">
                <a:solidFill>
                  <a:srgbClr val="42526B"/>
                </a:solidFill>
              </a:rPr>
              <a:t>• volume change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B267B6C-7FE6-40A0-B9CB-24E42E6337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5486400"/>
            <a:ext cx="914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42526B"/>
                </a:solidFill>
              </a:defRPr>
            </a:pPr>
            <a:r>
              <a:rPr sz="1500" b="0">
                <a:solidFill>
                  <a:srgbClr val="42526B"/>
                </a:solidFill>
              </a:rPr>
              <a:t>Compiler 负责命令依赖顺序和文本渲染；Preflight 负责提前暴露运行风险。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17D75F-210F-4968-BB6B-C6F7FAE5C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101304115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BF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title-8">
            <a:extLst xmlns:a="http://schemas.openxmlformats.org/drawingml/2006/main">
              <a:ext uri="{FF2B5EF4-FFF2-40B4-BE49-F238E27FC236}">
                <a16:creationId xmlns:a16="http://schemas.microsoft.com/office/drawing/2014/main" id="{F3B7A936-FA56-41A7-80B3-936A998F9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8096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2033"/>
                </a:solidFill>
              </a:defRPr>
            </a:pPr>
            <a:r>
              <a:rPr sz="2700" b="1">
                <a:solidFill>
                  <a:srgbClr val="172033"/>
                </a:solidFill>
              </a:rPr>
              <a:t>输出结果与总结</a:t>
            </a:r>
          </a:p>
        </p:txBody>
      </p:sp>
      <p:sp>
        <p:nvSpPr>
          <p:cNvPr id="2" name="keyword-8">
            <a:extLst xmlns:a="http://schemas.openxmlformats.org/drawingml/2006/main">
              <a:ext uri="{FF2B5EF4-FFF2-40B4-BE49-F238E27FC236}">
                <a16:creationId xmlns:a16="http://schemas.microsoft.com/office/drawing/2014/main" id="{2E4BA424-8D82-4643-9006-37C22FDBF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8763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563EB"/>
                </a:solidFill>
              </a:defRPr>
            </a:pPr>
            <a:r>
              <a:rPr sz="1275" b="1">
                <a:solidFill>
                  <a:srgbClr val="2563EB"/>
                </a:solidFill>
              </a:rPr>
              <a:t>Evidence Package &amp; Takeaways</a:t>
            </a:r>
          </a:p>
        </p:txBody>
      </p:sp>
      <p:sp>
        <p:nvSpPr>
          <p:cNvPr id="3" name="rule-8">
            <a:extLst xmlns:a="http://schemas.openxmlformats.org/drawingml/2006/main">
              <a:ext uri="{FF2B5EF4-FFF2-40B4-BE49-F238E27FC236}">
                <a16:creationId xmlns:a16="http://schemas.microsoft.com/office/drawing/2014/main" id="{D4C4036E-CF0C-4438-A474-F541A93F1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09675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BD5E1"/>
          </a:solidFill>
          <a:ln xmlns:a="http://schemas.openxmlformats.org/drawingml/2006/main" w="0">
            <a:solidFill>
              <a:srgbClr val="CBD5E1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87F642-2F7B-4186-A6B6-40EF34910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438150"/>
            <a:ext cx="476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350" b="1">
                <a:solidFill>
                  <a:srgbClr val="7A869A"/>
                </a:solidFill>
              </a:defRPr>
            </a:pPr>
            <a:r>
              <a:rPr sz="1350" b="1">
                <a:solidFill>
                  <a:srgbClr val="7A869A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048830-6103-495D-AC56-F4BB659FE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4095750" cy="3733800"/>
          </a:xfrm>
          <a:prstGeom xmlns:a="http://schemas.openxmlformats.org/drawingml/2006/main" prst="roundRect">
            <a:avLst>
              <a:gd name="adj" fmla="val 204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FC4F1F-842F-4410-B4B3-3FCFC681C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8669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2033"/>
                </a:solidFill>
              </a:defRPr>
            </a:pPr>
            <a:r>
              <a:rPr sz="1875" b="1">
                <a:solidFill>
                  <a:srgbClr val="172033"/>
                </a:solidFill>
              </a:rPr>
              <a:t>output/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B50FD-E0F6-4076-8275-7F014AEF3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2286000"/>
            <a:ext cx="3143250" cy="2381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in.main.lammps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md_ir.yaml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intent_spec.yaml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validation_report.json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preflight_report.json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provenance.lock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assumptions.md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semantic_diff.md</a:t>
            </a:r>
          </a:p>
          <a:p xmlns:a="http://schemas.openxmlformats.org/drawingml/2006/main">
            <a:pPr algn="l">
              <a:defRPr sz="1425" b="0">
                <a:solidFill>
                  <a:srgbClr val="42526B"/>
                </a:solidFill>
              </a:defRPr>
            </a:pPr>
            <a:r>
              <a:rPr sz="1425" b="0">
                <a:solidFill>
                  <a:srgbClr val="42526B"/>
                </a:solidFill>
              </a:rPr>
              <a:t>├─ README.md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FE85708-A629-4B9F-9755-D59F6B69E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47434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2563EB"/>
                </a:solidFill>
              </a:defRPr>
            </a:pPr>
            <a:r>
              <a:rPr sz="1425" b="1">
                <a:solidFill>
                  <a:srgbClr val="2563EB"/>
                </a:solidFill>
              </a:rPr>
              <a:t>Evidence Package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6C2A12-7B76-46CC-9E6D-87AC56435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16954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F42C2A-06B3-49B5-A163-23D5B84EF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6954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自然语言需求结构化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E09DA29-8C09-4D28-A62F-61E624577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0383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26B"/>
                </a:solidFill>
              </a:defRPr>
            </a:pPr>
            <a:r>
              <a:rPr sz="1275" b="0">
                <a:solidFill>
                  <a:srgbClr val="42526B"/>
                </a:solidFill>
              </a:rPr>
              <a:t>Natural language → structured intent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4A1F97-9934-44EB-B2DB-18F8D5B03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59080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E8F85FF-60F1-4585-B5AF-6A1010C5D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5908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物理约束驱动验证与修复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0CE550-7179-472B-8BC1-D2293D5E7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93370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26B"/>
                </a:solidFill>
              </a:defRPr>
            </a:pPr>
            <a:r>
              <a:rPr sz="1275" b="0">
                <a:solidFill>
                  <a:srgbClr val="42526B"/>
                </a:solidFill>
              </a:rPr>
              <a:t>Validation and repair on MD Typed IR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4C1A13-025F-44C6-B1DE-DEFB3C1B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486150"/>
            <a:ext cx="51435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EAF1FF"/>
          </a:solidFill>
          <a:ln xmlns:a="http://schemas.openxmlformats.org/drawingml/2006/main" w="9525">
            <a:solidFill>
              <a:srgbClr val="BBD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950" b="1">
                <a:solidFill>
                  <a:srgbClr val="1E3A8A"/>
                </a:solidFill>
              </a:defRPr>
            </a:pPr>
            <a:r>
              <a:rPr sz="1950" b="1">
                <a:solidFill>
                  <a:srgbClr val="1E3A8A"/>
                </a:solidFill>
              </a:rPr>
              <a:t>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4B374B-A5BB-4CA6-89B1-40EB7B37A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34861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可复现脚本与证据包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4BA4AB-9515-4C8A-BFB6-94F94F7C8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3829050"/>
            <a:ext cx="4095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42526B"/>
                </a:solidFill>
              </a:defRPr>
            </a:pPr>
            <a:r>
              <a:rPr sz="1275" b="0">
                <a:solidFill>
                  <a:srgbClr val="42526B"/>
                </a:solidFill>
              </a:rPr>
              <a:t>Validated script with reproducible evidence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9DAB56F-81E1-4489-AC90-89381B5D5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781550"/>
            <a:ext cx="501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4D6"/>
          </a:solidFill>
          <a:ln xmlns:a="http://schemas.openxmlformats.org/drawingml/2006/main" w="9525">
            <a:solidFill>
              <a:srgbClr val="FCD34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8350F"/>
                </a:solidFill>
              </a:defRPr>
            </a:pPr>
            <a:r>
              <a:rPr sz="1500" b="1">
                <a:solidFill>
                  <a:srgbClr val="78350F"/>
                </a:solidFill>
              </a:rPr>
              <a:t>Future Work：real LAMMPS integration / more materials / workflow extension / benchmark evaluation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D2B7C34-199E-49EB-913C-BCBB71139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7A869A"/>
                </a:solidFill>
              </a:defRPr>
            </a:pPr>
            <a:r>
              <a:rPr sz="975" b="0">
                <a:solidFill>
                  <a:srgbClr val="7A869A"/>
                </a:solidFill>
              </a:rPr>
              <a:t>MDSynth / LAMMPS Script Generation</a:t>
            </a:r>
          </a:p>
        </p:txBody>
      </p:sp>
    </p:spTree>
    <p:extLst>
      <p:ext uri="{BB962C8B-B14F-4D97-AF65-F5344CB8AC3E}">
        <p14:creationId xmlns:p14="http://schemas.microsoft.com/office/powerpoint/2010/main" val="98725744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2026-07-02T14:10:41.8510000Z</dcterms:created>
  <dcterms:modified xsi:type="dcterms:W3CDTF">2026-07-02T14:10:41.8510000Z</dcterms:modified>
</coreProperties>
</file>